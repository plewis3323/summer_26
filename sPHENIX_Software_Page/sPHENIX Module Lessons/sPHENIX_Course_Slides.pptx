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02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BROOKHAVEN NATIONAL LABORATORY  •  RHIC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sPHENIX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A5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28016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Self-Paced Training Course for New Students and Postdocs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"what is Fun4All?" to a working Condor analysis pipeline in two months.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Tooling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Fun4All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Simulation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syllabus  •  Cover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sPHENIX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</a:t>
            </a:r>
            <a:r>
              <a:rPr lang="en-US" sz="16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the </a:t>
            </a:r>
            <a:r>
              <a:rPr lang="en-US" sz="1600" b="1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Quark‑Gluon Plasma</a:t>
            </a:r>
            <a:r>
              <a:rPr lang="en-US" sz="16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state of matter that existed microseconds after the Big Bang — by colliding gold nuclei and protons at RHIC.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is for you if...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7406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arrived on sPHENIX as a new grad student or postdoc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comfortable at the command line but new to HEP software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be productive on real data — not stuck on environment bugs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prefer learning by doing, with checkpoints to pace yourself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69680" y="1554480"/>
            <a:ext cx="2743200" cy="47548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0" y="1554480"/>
            <a:ext cx="2743200" cy="73152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068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068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00684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68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0684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0684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06840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h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06840" y="5852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/ week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sPHENIX software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498080" cy="77724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 — Your analysis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SubsysReco modules, ROOT macros, Fun4All macros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74980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sPHENIX offline software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52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coresoftware: calibration, reconstruction, I/O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28416"/>
            <a:ext cx="7498080" cy="77724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401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Fun4All framework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7398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loop, node tree, SubsysReco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15384"/>
            <a:ext cx="7498080" cy="7772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2885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External libraries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6268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Geant4, HepMC, FastJet, CLHEP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102352"/>
            <a:ext cx="7498080" cy="77724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 — OS &amp; 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5513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9, CVMFS, GPFS, Lustre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155448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03920" y="1554480"/>
            <a:ext cx="73152" cy="201168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3252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32520" y="212140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SubsysReco module (.h/.cc), a Fun4All macro, a CMakeLists.txt, and shell scripts for Condor.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370332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03920" y="3703320"/>
            <a:ext cx="73152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3252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never modify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32520" y="427024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Coresoftware internals, CVMFS installs, production DST files. You call into them — you don't edit them.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743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7432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environment, git, ROOT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2468880" cy="1188720"/>
          </a:xfrm>
          <a:prstGeom prst="rect">
            <a:avLst/>
          </a:prstGeom>
          <a:solidFill>
            <a:srgbClr val="F5F3EF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TTree, plot a histogram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1554480"/>
            <a:ext cx="2743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66160" y="1554480"/>
            <a:ext cx="2743200" cy="6400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Fun4All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tree, SubsysReco, CMake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03320" y="4572000"/>
            <a:ext cx="2468880" cy="1188720"/>
          </a:xfrm>
          <a:prstGeom prst="rect">
            <a:avLst/>
          </a:prstGeom>
          <a:solidFill>
            <a:srgbClr val="F5F3EF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+ run a module on DST_TRACKS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2743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92240" y="1554480"/>
            <a:ext cx="2743200" cy="6400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Geant4, clusters, truth match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4572000"/>
            <a:ext cx="2468880" cy="1188720"/>
          </a:xfrm>
          <a:prstGeom prst="rect">
            <a:avLst/>
          </a:prstGeom>
          <a:solidFill>
            <a:srgbClr val="F5F3EF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pi0 peak in simulation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18320" y="1554480"/>
            <a:ext cx="2743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18320" y="1554480"/>
            <a:ext cx="2743200" cy="64008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6012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Condor, event mix, pub plots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555480" y="4572000"/>
            <a:ext cx="2468880" cy="1188720"/>
          </a:xfrm>
          <a:prstGeom prst="rect">
            <a:avLst/>
          </a:prstGeom>
          <a:solidFill>
            <a:srgbClr val="F5F3EF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69264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9264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job array + open a PR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6172200"/>
            <a:ext cx="1097280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Tooling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040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1762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Cluster + shell + ROOT basics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2651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SDCC, understand /sphenix/user, source sphenix_setup.sh, write your first ROOT macro, learn enough Linux to not panic.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7040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73152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Git, C++ essentials, full TTree analysis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5720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Branch-and-PR workflow on the macros repo. Write a complete analysis that reads a TTree, applies cuts, fills histograms, and saves a PDF.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2011680"/>
            <a:ext cx="3657600" cy="219456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55280" y="2011680"/>
            <a:ext cx="73152" cy="219456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56448" y="2121408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login: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/opt/sphenix/core/bin/\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sphenix_setup.sh -n new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MYINSTALL=$HOME/install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/opt/sphenix/core/bin/\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setup_local.sh $MYINSTALL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434340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55280" y="4343400"/>
            <a:ext cx="73152" cy="132588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3880" y="4507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4910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PDF plot from your macro, a short environment writeup in your GitHub repo, and your first pull request.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working environment + a ROOT macro you wrote from scratch.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Fun4All deep dive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Fun4All runs your code once per event, through a chain of SubsysReco modules that share a node tree.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DST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28600" cy="0"/>
          </a:xfrm>
          <a:prstGeom prst="line">
            <a:avLst/>
          </a:prstGeom>
          <a:noFill/>
          <a:ln w="25400">
            <a:solidFill>
              <a:srgbClr val="A5D7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62072" y="2331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62072" y="23317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SubsysReco 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55464" y="2766060"/>
            <a:ext cx="228600" cy="0"/>
          </a:xfrm>
          <a:prstGeom prst="line">
            <a:avLst/>
          </a:prstGeom>
          <a:noFill/>
          <a:ln w="25400">
            <a:solidFill>
              <a:srgbClr val="A5D7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84064" y="2331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84064" y="23317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SubsysReco 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77456" y="2766060"/>
            <a:ext cx="228600" cy="0"/>
          </a:xfrm>
          <a:prstGeom prst="line">
            <a:avLst/>
          </a:prstGeom>
          <a:noFill/>
          <a:ln w="25400">
            <a:solidFill>
              <a:srgbClr val="A5D7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06056" y="2331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06056" y="23317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analysis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99448" y="2766060"/>
            <a:ext cx="228600" cy="0"/>
          </a:xfrm>
          <a:prstGeom prst="line">
            <a:avLst/>
          </a:prstGeom>
          <a:noFill/>
          <a:ln w="25400">
            <a:solidFill>
              <a:srgbClr val="A5D7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28048" y="2331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28048" y="23317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ROOT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260604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tree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bulletin board of event data — tracks, clusters, vertices, truth. Modules post and read.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374904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29000" y="3749040"/>
            <a:ext cx="260604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1188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SubsysReco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11880" y="4343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module. Three hooks: Init, process_event, End. You write process_event.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374904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260604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Fun4All macro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4343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macro that registers your module, sets input DST, and calls se-&gt;run(N).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06840" y="374904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006840" y="3749040"/>
            <a:ext cx="260604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8972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files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89720" y="4343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 Tape. Named by type/system/production/run/segment. Read-only production output.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CORE SKILL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SubsysReco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475488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6446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MyAnalysis.h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MyAnalysis : public SubsysReco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MyAnalysis(const std::string&amp; n = "MyAnalysis");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Init(PHCompositeNode*) override;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process_event(PHCompositeNode*) override;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End(PHCompositeNode*) override;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TFile* _out;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TH1F*  _h_pt;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MyAnalysis.cc  (inside process_event)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auto* trk = findNode::getClass&lt;SvtxTrackMap&gt;(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topNode, "SvtxTrackMap");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(!trk) return Fun4AllReturnCodes::ABORTEVENT;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(auto&amp; it : *trk)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auto* t = it.second;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pt = std::hypot(t-&gt;get_px(), t-&gt;get_py());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(t-&gt;get_quality() &gt; 10) continue;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_h_pt-&gt;Fill(pt);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Fun4AllReturnCodes::EVENT_OK;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155448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73152" cy="150876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Always null-check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121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findNode::getClass can return nullptr if the DST type doesn't have that node. Null-check, then ABORTEVENT.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3182112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3182112"/>
            <a:ext cx="73152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9560" y="3346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Init allocates, End closes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0956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TFile/TH1/TTree in Init. Write + close in End. Never new inside process_event — you'll leak memory.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0" y="4809744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80960" y="4809744"/>
            <a:ext cx="73152" cy="150876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9560" y="49743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ABORTEVENT vs ABORTRUN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5376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ABORTEVENT skips one event; ABORTRUN stops everything. Use the stronger code only for unrecoverable errors.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Simulation &amp; physics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simulation chain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305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Pythia8, HIJING, or a single-particle gun firing pi0s in |eta|&lt;1.1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24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Geant4 propagation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cross MVTX → INTT → TPC → EMCal → HCal, deposit energy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3741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30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deposits become detector signals (ADCs, timing)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123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3799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finding, track fitting, vertex, jet reconstruction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73752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873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output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12978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your module will read: CLUSTER_CEMC, SvtxTrackMap, G4TruthInfo, 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1463040"/>
            <a:ext cx="33832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0" y="1463040"/>
            <a:ext cx="73152" cy="237744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58200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target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58200" y="2029968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 pi0 → γγ peak in the EMCal. Pair all photons above 0.3 GeV, cut on shower shape, plot invariant mass in pT bins.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0" y="3931920"/>
            <a:ext cx="33832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3931920"/>
            <a:ext cx="7315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58200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8200" y="4498848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pi0 is the QCD calibration candle — if your EMCal analysis shows a peak at ~135 MeV, your cluster reconstruction is working.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Scaling up on Condor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651760" cy="1737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65176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files per job array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651760" cy="1737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65176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memory / job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51760" cy="1737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265176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hadd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merge outputs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651760" cy="1737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0" y="1737360"/>
            <a:ext cx="265176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PDF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28116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labeled plot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6949440" cy="237744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73152" cy="237744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858768"/>
            <a:ext cx="6629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myJob.sub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Universe       = vanilla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     = /usr/bin/bash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Arguments      = run_analysis.sh $(Process)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       = condorOut/out_$(Process).out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         = condorOut/err_$(Process).err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           = condorOut/log_$(Process).log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request_memory = 4096MB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100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3749040"/>
            <a:ext cx="3840480" cy="237744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0" y="3749040"/>
            <a:ext cx="384048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finish this module able to…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42976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parallel jobs across production data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held jobs with condor_q -better-analyze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output ROOT files cleanly with hadd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sPHENIX style + #it{sPHENIX} Internal label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your pipeline back via a pull request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COMPETENCY-BASED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 and how you're assessed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589520" cy="9144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Week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analysis macro + environment writeup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Week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Compiled SubsysReco + Fun4All macro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Week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Pi0 invariant-mass peak from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Week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Condor pipeline + sPHENIX-labeled plot + 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508760"/>
            <a:ext cx="758952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88920" y="1508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713232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03920" y="1508760"/>
            <a:ext cx="3108960" cy="46634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503920" y="1508760"/>
            <a:ext cx="3108960" cy="73152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410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41080" y="2011680"/>
            <a:ext cx="2834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produce the expected result?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checked, clean on empty events.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can rebuild from a clean account.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CMake, no hardcoded paths.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clear for the next student.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means you pass by demonstrating deliverables, not by accumulating hours.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75895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663440"/>
            <a:ext cx="73152" cy="155448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48280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signoff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8680" y="523036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checkpoint, your mentor clones your repo on a fresh account and must reproduce your result. If they can't, it's not done. This is the single best preparation for submitting code to the collaboration.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RHYTHM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day in the course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00200" y="1847088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1618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environment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1874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sphenix_setup.sh -n new; set MYINSTALL.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2624328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23957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651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coresoftware + your branch; rebase if needed.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00200" y="3401568"/>
            <a:ext cx="274320" cy="0"/>
          </a:xfrm>
          <a:prstGeom prst="line">
            <a:avLst/>
          </a:prstGeom>
          <a:noFill/>
          <a:ln w="254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65960" y="31729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on exercise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3429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build with make -j4 install, iterate in ROOT.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00200" y="4178808"/>
            <a:ext cx="274320" cy="0"/>
          </a:xfrm>
          <a:prstGeom prst="line">
            <a:avLst/>
          </a:prstGeom>
          <a:noFill/>
          <a:ln w="254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65960" y="3950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Dr. Claude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65960" y="4206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stuck &gt; 20 min: paste error, get diagnostic questions.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00200" y="4956048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65960" y="47274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+ push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65960" y="4983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descriptive commits. Push to your fork.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486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00200" y="5733288"/>
            <a:ext cx="274320" cy="0"/>
          </a:xfrm>
          <a:prstGeom prst="line">
            <a:avLst/>
          </a:prstGeom>
          <a:noFill/>
          <a:ln w="254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65960" y="5504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&amp; next steps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965960" y="5760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paragraph: what you learned, what's next.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INSTRUCTOR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Dr. Claude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Project configured with the sPHENIX training guide as its knowledge base and a custom system prompt that encodes the course philosophy.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566160" cy="1920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566160" cy="73152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24‑7 office hours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error at 2am. Get a diagnostic question, not just a fix.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566160" cy="1920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566160" cy="73152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Curriculum-aware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week you're on. Teaches to the current checkpoint, not the whole manual.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566160" cy="1920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66160" cy="73152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code only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code you can compile. No hand-waving pseudocode.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972800" cy="160020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72800" cy="54864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PROMPTS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starting Week 3 — walk me through the node tree."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"Here's my Fun4All crash log. Help me find the null pointer."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"Quiz me on what I learned this week."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 my SubsysReco and suggest a minimal diff."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and support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of conduct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sPHENIX collaboration code of conduct in every interaction.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integrity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is encouraged. Attribution is mandatory. Cite adapted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data is collaboration-internal. Label non-approved plots "sPHENIX Internal".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087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is encouraged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every line before you commit it. Include an AI-reflection note at each checkpoint.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3886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4087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check-ins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Kickoff, then every 2 weeks at each checkpoint. Async on Mattermost otherwise.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8160" y="38862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4069080"/>
            <a:ext cx="502920" cy="50292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210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61120" y="4087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with fixed checkpoints. Move faster if ready; ask your mentor if you need more time.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Module 1 today.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280160" cy="457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Day 1 checklist: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or confirm your SDCC account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SSH into the cluster and cd to /sphenix/user/$USER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Source sphenix_setup.sh -n new and echo $OFFLINE_MAIN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Start a new Claude conversation and attach the system prompt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Paste: "I'm on Week 1, Day 1. Walk me through setup."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274320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0" y="30175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the collaboration.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at RHIC  •  Brookhaven National Laboratory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sPHENIX Onboarding  •  SPX-101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537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•  Slide 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Microsoft Office PowerPoint</Application>
  <PresentationFormat>Widescreen</PresentationFormat>
  <Paragraphs>332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sPHENIX Onboarding Course</dc:title>
  <dc:subject>PptxGenJS Presentation</dc:subject>
  <dc:creator>sPHENIX Training</dc:creator>
  <cp:lastModifiedBy>Lewis, Parker</cp:lastModifiedBy>
  <cp:revision>1</cp:revision>
  <dcterms:created xsi:type="dcterms:W3CDTF">2026-04-19T15:03:03Z</dcterms:created>
  <dcterms:modified xsi:type="dcterms:W3CDTF">2026-04-19T15:10:19Z</dcterms:modified>
</cp:coreProperties>
</file>